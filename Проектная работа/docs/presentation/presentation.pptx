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.jpe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" name="Shape 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Тема проектной работы — интеллектуальная система анализа бухгалтерских документов AccMind. В двух словах: пользователь загружает договоры, акты и платежные документы, а затем задаёт вопросы по их содержимому.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" name="Shape 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Меня зовут Никита Малютин. Я работаю разработчиком программного обеспечения. В проекте я собрал веб-приложение для поиска сведений в бухгалтерских документах и объясню, как в нём устроена обработка и контроль доступа.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" name="Shape 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Коротко обозначить пять разделов защиты по шаблону.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" name="Shape 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Главная цель — не просто найти похожий текст, а помочь ответить на вопрос, который затрагивает несколько документов, и показать источники. Для этого приложение принимает PDF и изображения, получает текст, связывает документы по проверенным реквизитам и передаёт в ответ только источники, доступные конкретному пользователю. Код: mvp/app/main.py, mvp/app/ingestion.py, mvp/app/workflow.py.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" name="Shape 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FastAPI принимает запросы браузера. LangGraph задаёт порядок этапов вопроса и позволяет остановиться, если источников недостаточно. PostgreSQL хранит права, статусы и текст, MinIO — оригиналы файлов. Qdrant находит похожие фрагменты, Neo4j помогает перейти к документам по тому же договору. OCR и ответы используют OpenAI-совместимый внешний API, по умолчанию OpenRouter; эмбеддинги в демонстрационной конфигурации рассчитываются локально через FastEmbed. Эти названия на слайде дополнены простым объяснением назначения каждого компонента.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" name="Shape 1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C4 Level 2 текущего решения. Веб-интерфейс исполняется в браузере; FastAPI обслуживает API и статические файлы. Хранилища доступны приложению. Источник: docs/diagrams/architecture.md.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9" name="Shape 1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На скриншоте показан интерфейс пользователя с ограниченными правами: есть ответ и кнопки перехода к документам и страницам. В текущем отчёте зафиксированы 25 прошедших unit/API-тестов и отдельная проверка Qdrant и Neo4j на настоящих хранилищах. Полный E2E на четырёх синтетических документах проходил на более раннем снимке контейнера: он нашёл договор, два акта и платежное поручение, посчитал 250 000 рублей по актам и 100 000 рублей по платежу. Проверка выполнена на демонстрационном корпусе. Качество на реальном архиве требует отдельной оценки. См. docs/testing-report.md.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" name="Shape 1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3:15–3:45</a:t>
            </a:r>
          </a:p>
          <a:p>
            <a:pPr/>
            <a:r>
              <a:t>Основные ограничения известны. Остановка API прерывает фоновую обработку. Между базой и индексами нет общей транзакции, поэтому документ становится готовым только после индексации; частичный сбой требует повтора. Текст документа может содержать вредоносные инструкции, а модель — ошибаться. Проверки доступа и цитат обязательны, но защита пока ограничена тестовыми сценариями. Для реальных документов также нужно решить, допустима ли передача внешнему провайдеру, и измерить расходы.</a:t>
            </a:r>
          </a:p>
          <a:p>
            <a:pPr/>
          </a:p>
          <a:p>
            <a:pPr/>
            <a:r>
              <a:t>Основание: ADR-001, 002, 005, 007, 008; docs/security.md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0" name="Shape 1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 выводах важно разделить готовое и план. Сейчас AccMind — одно приложение FastAPI, а фоновая обработка документов остаётся внутри процесса. В целевом корпоративном варианте долгие этапы обработки планируется выделить в сервисы, команды передавать через Kafka. Также описаны корпоративный вход Keycloak, шлюз LiteLLM и локальное исполнение моделей через vLLM, инструменты эксплуатации Prometheus, Grafana и OpenSearch, оценка моделей через MLflow, источники Exchange/DFS и интеграции с 1С Документооборотом и 1С ERP. Эти элементы пока не реализованы в MVP. Схема: docs/diagrams/target-microservices.md.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Целевая архитектура; компоненты плана не развёрнуты в MVP. Упрощённая контейнерная схема целевого решения, не развернутого MVP. Вопросы: веб-интерфейс, Backend API и GraphRAG используют Qdrant и Neo4j; API проверяет пользователя через Keycloak и права в Postgres Pro. Документы: Retrieve принимает файлы из API, почты и DFS, помещает задания в Kafka. Оркестратор управляет отдельными workers подготовки, OCR, извлечения полей и индексации; результат передаёт в 1С. Postgres Pro хранит состояние и права, S3 — оригиналы/файлы. LLM/VLM вызываются через LiteLLM и локальный vLLM с Qwen3.6-35B-A3B. Группы и детали передачи сокращены для читаемости слайда. Основания: docs/diagrams/target-microservices.md, docs/adr/002-model-provider.md.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Предложить обсудить текущие решения и целевое развитие. Спросить, какие проверки качества стоит добавить перед внедрением на реальных документах и какие части целевой архитектуры приоритетнее.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Shape 2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Поблагодарить слушателей и перейти к вопросам.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xfrm>
            <a:off x="6279546" y="4632643"/>
            <a:ext cx="273654" cy="269239"/>
          </a:xfrm>
          <a:prstGeom prst="rect">
            <a:avLst/>
          </a:prstGeom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9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500550" y="330723"/>
            <a:ext cx="8520601" cy="10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500550" y="1426469"/>
            <a:ext cx="8520601" cy="341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8684345" y="4692391"/>
            <a:ext cx="336813" cy="3352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rgbClr val="59595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  <p:transition xmlns:p14="http://schemas.microsoft.com/office/powerpoint/2010/main" spd="med" advClick="1"/>
  <p:txStyles>
    <p:titleStyle>
      <a:lvl1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1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titleStyle>
    <p:bodyStyle>
      <a:lvl1pPr marL="457200" marR="0" indent="-323850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●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962269" marR="0" indent="-359019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○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1419469" marR="0" indent="-359019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■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1876669" marR="0" indent="-359019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●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2333869" marR="0" indent="-359019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○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2791069" marR="0" indent="-359019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■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3248269" marR="0" indent="-359019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●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3705469" marR="0" indent="-359019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○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4162669" marR="0" indent="-359019" algn="l" defTabSz="914400" latinLnBrk="0">
        <a:lnSpc>
          <a:spcPct val="120000"/>
        </a:lnSpc>
        <a:spcBef>
          <a:spcPts val="300"/>
        </a:spcBef>
        <a:spcAft>
          <a:spcPts val="0"/>
        </a:spcAft>
        <a:buClr>
          <a:srgbClr val="000000"/>
        </a:buClr>
        <a:buSzPts val="1500"/>
        <a:buFont typeface="Helvetica"/>
        <a:buChar char="■"/>
        <a:tabLst/>
        <a:defRPr b="0" baseline="0" cap="none" i="0" spc="0" strike="noStrike" sz="15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B1C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391" t="0" r="391" b="0"/>
          <a:stretch>
            <a:fillRect/>
          </a:stretch>
        </p:blipFill>
        <p:spPr>
          <a:xfrm>
            <a:off x="-2" y="0"/>
            <a:ext cx="9144002" cy="514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image2.png" descr="image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915275" y="267783"/>
            <a:ext cx="819150" cy="283584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image3.png" descr="image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413718" y="3086100"/>
            <a:ext cx="1546039" cy="1666875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Интеллектуальная система…"/>
          <p:cNvSpPr txBox="1"/>
          <p:nvPr/>
        </p:nvSpPr>
        <p:spPr>
          <a:xfrm>
            <a:off x="474344" y="1076325"/>
            <a:ext cx="6766560" cy="2143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>
              <a:def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Интеллектуальная система</a:t>
            </a:r>
          </a:p>
          <a:p>
            <a:pPr>
              <a:def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анализа бухгалтерских</a:t>
            </a:r>
          </a:p>
          <a:p>
            <a:pPr>
              <a:def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документов</a:t>
            </a:r>
          </a:p>
        </p:txBody>
      </p:sp>
      <p:sp>
        <p:nvSpPr>
          <p:cNvPr id="33" name="AI Architect"/>
          <p:cNvSpPr txBox="1"/>
          <p:nvPr/>
        </p:nvSpPr>
        <p:spPr>
          <a:xfrm>
            <a:off x="674369" y="4133851"/>
            <a:ext cx="282321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AI Architect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Защита проекта"/>
          <p:cNvSpPr txBox="1"/>
          <p:nvPr/>
        </p:nvSpPr>
        <p:spPr>
          <a:xfrm>
            <a:off x="560069" y="304800"/>
            <a:ext cx="8004810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Защита проекта</a:t>
            </a:r>
          </a:p>
        </p:txBody>
      </p:sp>
      <p:sp>
        <p:nvSpPr>
          <p:cNvPr id="38" name="3"/>
          <p:cNvSpPr txBox="1"/>
          <p:nvPr/>
        </p:nvSpPr>
        <p:spPr>
          <a:xfrm>
            <a:off x="8837293" y="4810126"/>
            <a:ext cx="99062" cy="19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sz="1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" name="Тема проекта:…"/>
          <p:cNvSpPr txBox="1"/>
          <p:nvPr/>
        </p:nvSpPr>
        <p:spPr>
          <a:xfrm>
            <a:off x="569594" y="866775"/>
            <a:ext cx="7719060" cy="106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>
              <a:defRPr b="1" sz="20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Тема проекта:</a:t>
            </a:r>
          </a:p>
          <a:p>
            <a:pPr>
              <a:defRPr b="1" sz="20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Интеллектуальная система анализа</a:t>
            </a:r>
          </a:p>
          <a:p>
            <a:pPr>
              <a:defRPr b="1" sz="20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бухгалтерских документов</a:t>
            </a:r>
          </a:p>
        </p:txBody>
      </p:sp>
      <p:pic>
        <p:nvPicPr>
          <p:cNvPr id="40" name="image.jpeg" descr="image.jpeg"/>
          <p:cNvPicPr>
            <a:picLocks noChangeAspect="1"/>
          </p:cNvPicPr>
          <p:nvPr/>
        </p:nvPicPr>
        <p:blipFill>
          <a:blip r:embed="rId3">
            <a:extLst/>
          </a:blip>
          <a:srcRect l="0" t="12500" r="0" b="12500"/>
          <a:stretch>
            <a:fillRect/>
          </a:stretch>
        </p:blipFill>
        <p:spPr>
          <a:xfrm>
            <a:off x="647699" y="2133600"/>
            <a:ext cx="2171701" cy="2171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1" name="Малютин Никита"/>
          <p:cNvSpPr txBox="1"/>
          <p:nvPr/>
        </p:nvSpPr>
        <p:spPr>
          <a:xfrm>
            <a:off x="3569970" y="2476500"/>
            <a:ext cx="4099560" cy="428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Малютин Никита</a:t>
            </a:r>
          </a:p>
        </p:txBody>
      </p:sp>
      <p:sp>
        <p:nvSpPr>
          <p:cNvPr id="42" name="Software Developer…"/>
          <p:cNvSpPr txBox="1"/>
          <p:nvPr/>
        </p:nvSpPr>
        <p:spPr>
          <a:xfrm>
            <a:off x="3569970" y="3000375"/>
            <a:ext cx="4671060" cy="723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>
              <a:defRPr sz="13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Software Developer</a:t>
            </a:r>
          </a:p>
          <a:p>
            <a:pPr>
              <a:defRPr sz="13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Проектная работа курса AI Architect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1270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Цель и задачи проекта"/>
          <p:cNvSpPr txBox="1"/>
          <p:nvPr/>
        </p:nvSpPr>
        <p:spPr>
          <a:xfrm>
            <a:off x="560069" y="304800"/>
            <a:ext cx="8004810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Цель и задачи проекта</a:t>
            </a:r>
          </a:p>
        </p:txBody>
      </p:sp>
      <p:sp>
        <p:nvSpPr>
          <p:cNvPr id="51" name="5"/>
          <p:cNvSpPr txBox="1"/>
          <p:nvPr/>
        </p:nvSpPr>
        <p:spPr>
          <a:xfrm>
            <a:off x="8837293" y="4810126"/>
            <a:ext cx="99062" cy="19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sz="1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2" name="Цель: находить ответы по документам и показывать, на чём они основаны."/>
          <p:cNvSpPr txBox="1"/>
          <p:nvPr/>
        </p:nvSpPr>
        <p:spPr>
          <a:xfrm>
            <a:off x="664844" y="1076325"/>
            <a:ext cx="7719060" cy="52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4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Цель: упростить поиск сведений и связей между бухгалтерскими документами</a:t>
            </a:r>
          </a:p>
        </p:txBody>
      </p:sp>
      <p:sp>
        <p:nvSpPr>
          <p:cNvPr id="53" name="1."/>
          <p:cNvSpPr txBox="1"/>
          <p:nvPr/>
        </p:nvSpPr>
        <p:spPr>
          <a:xfrm>
            <a:off x="655319" y="1847850"/>
            <a:ext cx="3086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54" name="Принимать договоры, акты и платежные документы"/>
          <p:cNvSpPr txBox="1"/>
          <p:nvPr/>
        </p:nvSpPr>
        <p:spPr>
          <a:xfrm>
            <a:off x="1093469" y="1847850"/>
            <a:ext cx="7433310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Принимать документы в формате PDF/PNG/JPEG</a:t>
            </a:r>
          </a:p>
        </p:txBody>
      </p:sp>
      <p:sp>
        <p:nvSpPr>
          <p:cNvPr id="55" name="2."/>
          <p:cNvSpPr txBox="1"/>
          <p:nvPr/>
        </p:nvSpPr>
        <p:spPr>
          <a:xfrm>
            <a:off x="655319" y="2457450"/>
            <a:ext cx="3086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56" name="Извлекать текст из PDF и сканов"/>
          <p:cNvSpPr txBox="1"/>
          <p:nvPr/>
        </p:nvSpPr>
        <p:spPr>
          <a:xfrm>
            <a:off x="1093469" y="2457450"/>
            <a:ext cx="7433310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Извлекать текст из PDF и сканов</a:t>
            </a:r>
          </a:p>
        </p:txBody>
      </p:sp>
      <p:sp>
        <p:nvSpPr>
          <p:cNvPr id="57" name="3."/>
          <p:cNvSpPr txBox="1"/>
          <p:nvPr/>
        </p:nvSpPr>
        <p:spPr>
          <a:xfrm>
            <a:off x="655319" y="3067050"/>
            <a:ext cx="3086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3.</a:t>
            </a:r>
          </a:p>
        </p:txBody>
      </p:sp>
      <p:sp>
        <p:nvSpPr>
          <p:cNvPr id="58" name="Связывать документы по подтверждённым реквизитам договора"/>
          <p:cNvSpPr txBox="1"/>
          <p:nvPr/>
        </p:nvSpPr>
        <p:spPr>
          <a:xfrm>
            <a:off x="1093469" y="3067050"/>
            <a:ext cx="7433310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Связывать документы по реквизитам</a:t>
            </a:r>
          </a:p>
        </p:txBody>
      </p:sp>
      <p:sp>
        <p:nvSpPr>
          <p:cNvPr id="59" name="4."/>
          <p:cNvSpPr txBox="1"/>
          <p:nvPr/>
        </p:nvSpPr>
        <p:spPr>
          <a:xfrm>
            <a:off x="655319" y="3676651"/>
            <a:ext cx="3086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4.</a:t>
            </a:r>
          </a:p>
        </p:txBody>
      </p:sp>
      <p:sp>
        <p:nvSpPr>
          <p:cNvPr id="60" name="Отвечать с цитатами и учитывать права пользователя"/>
          <p:cNvSpPr txBox="1"/>
          <p:nvPr/>
        </p:nvSpPr>
        <p:spPr>
          <a:xfrm>
            <a:off x="1093469" y="3676651"/>
            <a:ext cx="7433310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Отвечать с цитатами и учитывать права пользователя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Какие технологии использовались"/>
          <p:cNvSpPr txBox="1"/>
          <p:nvPr/>
        </p:nvSpPr>
        <p:spPr>
          <a:xfrm>
            <a:off x="560069" y="304800"/>
            <a:ext cx="8004810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Какие технологии использовались</a:t>
            </a:r>
          </a:p>
        </p:txBody>
      </p:sp>
      <p:sp>
        <p:nvSpPr>
          <p:cNvPr id="65" name="6"/>
          <p:cNvSpPr txBox="1"/>
          <p:nvPr/>
        </p:nvSpPr>
        <p:spPr>
          <a:xfrm>
            <a:off x="8837293" y="4810126"/>
            <a:ext cx="99062" cy="19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sz="1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6" name="1."/>
          <p:cNvSpPr txBox="1"/>
          <p:nvPr/>
        </p:nvSpPr>
        <p:spPr>
          <a:xfrm>
            <a:off x="655319" y="1152525"/>
            <a:ext cx="308612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67" name="Python и FastAPI — веб-интерфейс и серверные запросы"/>
          <p:cNvSpPr txBox="1"/>
          <p:nvPr/>
        </p:nvSpPr>
        <p:spPr>
          <a:xfrm>
            <a:off x="1093469" y="1152525"/>
            <a:ext cx="7433310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Python и FastAPI — веб-интерфейс и серверные запросы</a:t>
            </a:r>
          </a:p>
        </p:txBody>
      </p:sp>
      <p:sp>
        <p:nvSpPr>
          <p:cNvPr id="68" name="2."/>
          <p:cNvSpPr txBox="1"/>
          <p:nvPr/>
        </p:nvSpPr>
        <p:spPr>
          <a:xfrm>
            <a:off x="655319" y="1819275"/>
            <a:ext cx="308612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69" name="LangGraph — управляемые шаги поиска и ответа"/>
          <p:cNvSpPr txBox="1"/>
          <p:nvPr/>
        </p:nvSpPr>
        <p:spPr>
          <a:xfrm>
            <a:off x="1093469" y="1819275"/>
            <a:ext cx="7433310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LangGraph — управляемые шаги поиска и ответа</a:t>
            </a:r>
          </a:p>
        </p:txBody>
      </p:sp>
      <p:sp>
        <p:nvSpPr>
          <p:cNvPr id="70" name="3."/>
          <p:cNvSpPr txBox="1"/>
          <p:nvPr/>
        </p:nvSpPr>
        <p:spPr>
          <a:xfrm>
            <a:off x="655319" y="2486025"/>
            <a:ext cx="308612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3.</a:t>
            </a:r>
          </a:p>
        </p:txBody>
      </p:sp>
      <p:sp>
        <p:nvSpPr>
          <p:cNvPr id="71" name="PostgreSQL и MinIO — сведения, права и оригиналы"/>
          <p:cNvSpPr txBox="1"/>
          <p:nvPr/>
        </p:nvSpPr>
        <p:spPr>
          <a:xfrm>
            <a:off x="1093469" y="2486025"/>
            <a:ext cx="7433310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PostgreSQL и MinIO — метаданные, права и оригиналы</a:t>
            </a:r>
          </a:p>
        </p:txBody>
      </p:sp>
      <p:sp>
        <p:nvSpPr>
          <p:cNvPr id="72" name="4."/>
          <p:cNvSpPr txBox="1"/>
          <p:nvPr/>
        </p:nvSpPr>
        <p:spPr>
          <a:xfrm>
            <a:off x="655319" y="3152775"/>
            <a:ext cx="308612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4.</a:t>
            </a:r>
          </a:p>
        </p:txBody>
      </p:sp>
      <p:sp>
        <p:nvSpPr>
          <p:cNvPr id="73" name="Qdrant и Neo4j — поиск по смыслу и связи документов"/>
          <p:cNvSpPr txBox="1"/>
          <p:nvPr/>
        </p:nvSpPr>
        <p:spPr>
          <a:xfrm>
            <a:off x="1093469" y="3152775"/>
            <a:ext cx="7433310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Qdrant и Neo4j — поиск по смыслу и связи документов</a:t>
            </a:r>
          </a:p>
        </p:txBody>
      </p:sp>
      <p:sp>
        <p:nvSpPr>
          <p:cNvPr id="74" name="5."/>
          <p:cNvSpPr txBox="1"/>
          <p:nvPr/>
        </p:nvSpPr>
        <p:spPr>
          <a:xfrm>
            <a:off x="655319" y="3819526"/>
            <a:ext cx="308612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5.</a:t>
            </a:r>
          </a:p>
        </p:txBody>
      </p:sp>
      <p:sp>
        <p:nvSpPr>
          <p:cNvPr id="75" name="OpenRouter и FastEmbed — внешние AI-модели и локальные векторы"/>
          <p:cNvSpPr txBox="1"/>
          <p:nvPr/>
        </p:nvSpPr>
        <p:spPr>
          <a:xfrm>
            <a:off x="1093469" y="3819526"/>
            <a:ext cx="7433310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OpenRouter и FastEmbed — внешняя модель Qwen 3.7-Flash по API и локальные векторы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204;p41"/>
          <p:cNvSpPr txBox="1"/>
          <p:nvPr>
            <p:ph type="title"/>
          </p:nvPr>
        </p:nvSpPr>
        <p:spPr>
          <a:xfrm>
            <a:off x="500549" y="330724"/>
            <a:ext cx="8520602" cy="1095900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pPr/>
            <a:r>
              <a:t>Контейнеры текущей системы</a:t>
            </a:r>
          </a:p>
        </p:txBody>
      </p:sp>
      <p:grpSp>
        <p:nvGrpSpPr>
          <p:cNvPr id="82" name="Сгруппировать"/>
          <p:cNvGrpSpPr/>
          <p:nvPr/>
        </p:nvGrpSpPr>
        <p:grpSpPr>
          <a:xfrm>
            <a:off x="327025" y="2266950"/>
            <a:ext cx="1514475" cy="781050"/>
            <a:chOff x="0" y="0"/>
            <a:chExt cx="1514475" cy="781050"/>
          </a:xfrm>
        </p:grpSpPr>
        <p:sp>
          <p:nvSpPr>
            <p:cNvPr id="80" name="Закругленный прямоугольник"/>
            <p:cNvSpPr/>
            <p:nvPr/>
          </p:nvSpPr>
          <p:spPr>
            <a:xfrm>
              <a:off x="0" y="0"/>
              <a:ext cx="1514475" cy="781050"/>
            </a:xfrm>
            <a:prstGeom prst="roundRect">
              <a:avLst>
                <a:gd name="adj" fmla="val 9756"/>
              </a:avLst>
            </a:prstGeom>
            <a:solidFill>
              <a:srgbClr val="F5F4FA"/>
            </a:solidFill>
            <a:ln w="19050" cap="flat">
              <a:solidFill>
                <a:srgbClr val="4931A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81" name="Браузер…"/>
            <p:cNvSpPr txBox="1"/>
            <p:nvPr/>
          </p:nvSpPr>
          <p:spPr>
            <a:xfrm>
              <a:off x="77562" y="31842"/>
              <a:ext cx="1359351" cy="717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Браузер</a:t>
              </a:r>
            </a:p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веб-интерфейс</a:t>
              </a:r>
            </a:p>
          </p:txBody>
        </p:sp>
      </p:grpSp>
      <p:grpSp>
        <p:nvGrpSpPr>
          <p:cNvPr id="85" name="Сгруппировать"/>
          <p:cNvGrpSpPr/>
          <p:nvPr/>
        </p:nvGrpSpPr>
        <p:grpSpPr>
          <a:xfrm>
            <a:off x="2505075" y="2009775"/>
            <a:ext cx="2124075" cy="1266825"/>
            <a:chOff x="0" y="0"/>
            <a:chExt cx="2124075" cy="1266825"/>
          </a:xfrm>
        </p:grpSpPr>
        <p:sp>
          <p:nvSpPr>
            <p:cNvPr id="83" name="Закругленный прямоугольник"/>
            <p:cNvSpPr/>
            <p:nvPr/>
          </p:nvSpPr>
          <p:spPr>
            <a:xfrm>
              <a:off x="0" y="0"/>
              <a:ext cx="2124075" cy="1266825"/>
            </a:xfrm>
            <a:prstGeom prst="roundRect">
              <a:avLst>
                <a:gd name="adj" fmla="val 6015"/>
              </a:avLst>
            </a:prstGeom>
            <a:solidFill>
              <a:srgbClr val="F5F4FA"/>
            </a:solidFill>
            <a:ln w="19050" cap="flat">
              <a:solidFill>
                <a:srgbClr val="4931A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84" name="FastAPI…"/>
            <p:cNvSpPr txBox="1"/>
            <p:nvPr/>
          </p:nvSpPr>
          <p:spPr>
            <a:xfrm>
              <a:off x="77563" y="31842"/>
              <a:ext cx="1968950" cy="1203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FastAPI</a:t>
              </a:r>
            </a:p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загрузка, доступ, LangGraph</a:t>
              </a:r>
            </a:p>
          </p:txBody>
        </p:sp>
      </p:grpSp>
      <p:grpSp>
        <p:nvGrpSpPr>
          <p:cNvPr id="88" name="Сгруппировать"/>
          <p:cNvGrpSpPr/>
          <p:nvPr/>
        </p:nvGrpSpPr>
        <p:grpSpPr>
          <a:xfrm>
            <a:off x="5943600" y="1304925"/>
            <a:ext cx="2343150" cy="495300"/>
            <a:chOff x="0" y="0"/>
            <a:chExt cx="2343150" cy="495300"/>
          </a:xfrm>
        </p:grpSpPr>
        <p:sp>
          <p:nvSpPr>
            <p:cNvPr id="86" name="Закругленный прямоугольник"/>
            <p:cNvSpPr/>
            <p:nvPr/>
          </p:nvSpPr>
          <p:spPr>
            <a:xfrm>
              <a:off x="0" y="0"/>
              <a:ext cx="2343150" cy="495300"/>
            </a:xfrm>
            <a:prstGeom prst="roundRect">
              <a:avLst>
                <a:gd name="adj" fmla="val 15385"/>
              </a:avLst>
            </a:prstGeom>
            <a:solidFill>
              <a:srgbClr val="F5F4FA"/>
            </a:solidFill>
            <a:ln w="19050" cap="flat">
              <a:solidFill>
                <a:srgbClr val="4931A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87" name="PostgreSQL: метаданные"/>
            <p:cNvSpPr txBox="1"/>
            <p:nvPr/>
          </p:nvSpPr>
          <p:spPr>
            <a:xfrm>
              <a:off x="77563" y="31843"/>
              <a:ext cx="2188024" cy="431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PostgreSQL: метаданные</a:t>
              </a:r>
            </a:p>
          </p:txBody>
        </p:sp>
      </p:grpSp>
      <p:grpSp>
        <p:nvGrpSpPr>
          <p:cNvPr id="91" name="Сгруппировать"/>
          <p:cNvGrpSpPr/>
          <p:nvPr/>
        </p:nvGrpSpPr>
        <p:grpSpPr>
          <a:xfrm>
            <a:off x="5943600" y="1895475"/>
            <a:ext cx="2343150" cy="495300"/>
            <a:chOff x="0" y="0"/>
            <a:chExt cx="2343150" cy="495300"/>
          </a:xfrm>
        </p:grpSpPr>
        <p:sp>
          <p:nvSpPr>
            <p:cNvPr id="89" name="Закругленный прямоугольник"/>
            <p:cNvSpPr/>
            <p:nvPr/>
          </p:nvSpPr>
          <p:spPr>
            <a:xfrm>
              <a:off x="0" y="0"/>
              <a:ext cx="2343150" cy="495300"/>
            </a:xfrm>
            <a:prstGeom prst="roundRect">
              <a:avLst>
                <a:gd name="adj" fmla="val 15385"/>
              </a:avLst>
            </a:prstGeom>
            <a:solidFill>
              <a:srgbClr val="F5F4FA"/>
            </a:solidFill>
            <a:ln w="19050" cap="flat">
              <a:solidFill>
                <a:srgbClr val="4931A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90" name="MinIO: оригиналы"/>
            <p:cNvSpPr txBox="1"/>
            <p:nvPr/>
          </p:nvSpPr>
          <p:spPr>
            <a:xfrm>
              <a:off x="77563" y="31843"/>
              <a:ext cx="2188024" cy="431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MinIO: оригиналы</a:t>
              </a:r>
            </a:p>
          </p:txBody>
        </p:sp>
      </p:grpSp>
      <p:grpSp>
        <p:nvGrpSpPr>
          <p:cNvPr id="94" name="Сгруппировать"/>
          <p:cNvGrpSpPr/>
          <p:nvPr/>
        </p:nvGrpSpPr>
        <p:grpSpPr>
          <a:xfrm>
            <a:off x="5943600" y="2486025"/>
            <a:ext cx="2343150" cy="495300"/>
            <a:chOff x="0" y="0"/>
            <a:chExt cx="2343150" cy="495300"/>
          </a:xfrm>
        </p:grpSpPr>
        <p:sp>
          <p:nvSpPr>
            <p:cNvPr id="92" name="Закругленный прямоугольник"/>
            <p:cNvSpPr/>
            <p:nvPr/>
          </p:nvSpPr>
          <p:spPr>
            <a:xfrm>
              <a:off x="0" y="0"/>
              <a:ext cx="2343150" cy="495300"/>
            </a:xfrm>
            <a:prstGeom prst="roundRect">
              <a:avLst>
                <a:gd name="adj" fmla="val 15385"/>
              </a:avLst>
            </a:prstGeom>
            <a:solidFill>
              <a:srgbClr val="F5F4FA"/>
            </a:solidFill>
            <a:ln w="19050" cap="flat">
              <a:solidFill>
                <a:srgbClr val="4931A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93" name="Qdrant: векторный поиск"/>
            <p:cNvSpPr txBox="1"/>
            <p:nvPr/>
          </p:nvSpPr>
          <p:spPr>
            <a:xfrm>
              <a:off x="77563" y="31843"/>
              <a:ext cx="2188024" cy="431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Qdrant: векторный поиск</a:t>
              </a:r>
            </a:p>
          </p:txBody>
        </p:sp>
      </p:grpSp>
      <p:grpSp>
        <p:nvGrpSpPr>
          <p:cNvPr id="97" name="Сгруппировать"/>
          <p:cNvGrpSpPr/>
          <p:nvPr/>
        </p:nvGrpSpPr>
        <p:grpSpPr>
          <a:xfrm>
            <a:off x="5943600" y="3076575"/>
            <a:ext cx="2343150" cy="495300"/>
            <a:chOff x="0" y="0"/>
            <a:chExt cx="2343150" cy="495300"/>
          </a:xfrm>
        </p:grpSpPr>
        <p:sp>
          <p:nvSpPr>
            <p:cNvPr id="95" name="Закругленный прямоугольник"/>
            <p:cNvSpPr/>
            <p:nvPr/>
          </p:nvSpPr>
          <p:spPr>
            <a:xfrm>
              <a:off x="0" y="0"/>
              <a:ext cx="2343150" cy="495300"/>
            </a:xfrm>
            <a:prstGeom prst="roundRect">
              <a:avLst>
                <a:gd name="adj" fmla="val 15385"/>
              </a:avLst>
            </a:prstGeom>
            <a:solidFill>
              <a:srgbClr val="F5F4FA"/>
            </a:solidFill>
            <a:ln w="19050" cap="flat">
              <a:solidFill>
                <a:srgbClr val="4931A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96" name="Neo4j: связи документов"/>
            <p:cNvSpPr txBox="1"/>
            <p:nvPr/>
          </p:nvSpPr>
          <p:spPr>
            <a:xfrm>
              <a:off x="77563" y="31843"/>
              <a:ext cx="2188024" cy="431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Neo4j: связи документов</a:t>
              </a:r>
            </a:p>
          </p:txBody>
        </p:sp>
      </p:grpSp>
      <p:grpSp>
        <p:nvGrpSpPr>
          <p:cNvPr id="100" name="Сгруппировать"/>
          <p:cNvGrpSpPr/>
          <p:nvPr/>
        </p:nvGrpSpPr>
        <p:grpSpPr>
          <a:xfrm>
            <a:off x="5943600" y="3667125"/>
            <a:ext cx="2343150" cy="495300"/>
            <a:chOff x="0" y="0"/>
            <a:chExt cx="2343150" cy="495300"/>
          </a:xfrm>
        </p:grpSpPr>
        <p:sp>
          <p:nvSpPr>
            <p:cNvPr id="98" name="Закругленный прямоугольник"/>
            <p:cNvSpPr/>
            <p:nvPr/>
          </p:nvSpPr>
          <p:spPr>
            <a:xfrm>
              <a:off x="0" y="0"/>
              <a:ext cx="2343150" cy="495300"/>
            </a:xfrm>
            <a:prstGeom prst="roundRect">
              <a:avLst>
                <a:gd name="adj" fmla="val 15385"/>
              </a:avLst>
            </a:prstGeom>
            <a:solidFill>
              <a:srgbClr val="F5F4FA"/>
            </a:solidFill>
            <a:ln w="19050" cap="flat">
              <a:solidFill>
                <a:srgbClr val="4931A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99" name="OpenRouter: LLM/VLM"/>
            <p:cNvSpPr txBox="1"/>
            <p:nvPr/>
          </p:nvSpPr>
          <p:spPr>
            <a:xfrm>
              <a:off x="77563" y="31843"/>
              <a:ext cx="2188024" cy="431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sz="1200">
                  <a:solidFill>
                    <a:srgbClr val="211B43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OpenRouter: LLM/VLM</a:t>
              </a:r>
            </a:p>
          </p:txBody>
        </p:sp>
      </p:grpSp>
      <p:sp>
        <p:nvSpPr>
          <p:cNvPr id="107" name="Соединительная линия"/>
          <p:cNvSpPr/>
          <p:nvPr/>
        </p:nvSpPr>
        <p:spPr>
          <a:xfrm>
            <a:off x="1850390" y="2642870"/>
            <a:ext cx="645160" cy="139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1225" y="0"/>
                </a:lnTo>
                <a:lnTo>
                  <a:pt x="11225" y="21600"/>
                </a:lnTo>
                <a:lnTo>
                  <a:pt x="0" y="21600"/>
                </a:lnTo>
              </a:path>
            </a:pathLst>
          </a:custGeom>
          <a:ln w="19050">
            <a:solidFill>
              <a:srgbClr val="7864BA"/>
            </a:solidFill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08" name="Соединительная линия"/>
          <p:cNvSpPr/>
          <p:nvPr/>
        </p:nvSpPr>
        <p:spPr>
          <a:xfrm>
            <a:off x="4638040" y="1551939"/>
            <a:ext cx="1295401" cy="10909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0" y="21600"/>
                </a:lnTo>
              </a:path>
            </a:pathLst>
          </a:custGeom>
          <a:ln w="19050">
            <a:solidFill>
              <a:srgbClr val="7864BA"/>
            </a:solidFill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09" name="Соединительная линия"/>
          <p:cNvSpPr/>
          <p:nvPr/>
        </p:nvSpPr>
        <p:spPr>
          <a:xfrm>
            <a:off x="4638040" y="2142490"/>
            <a:ext cx="1295401" cy="5003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0" y="21600"/>
                </a:lnTo>
              </a:path>
            </a:pathLst>
          </a:custGeom>
          <a:ln w="19050">
            <a:solidFill>
              <a:srgbClr val="7864BA"/>
            </a:solidFill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10" name="Соединительная линия"/>
          <p:cNvSpPr/>
          <p:nvPr/>
        </p:nvSpPr>
        <p:spPr>
          <a:xfrm>
            <a:off x="4638040" y="2642870"/>
            <a:ext cx="1295401" cy="90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0800" y="21600"/>
                </a:lnTo>
                <a:lnTo>
                  <a:pt x="10800" y="0"/>
                </a:lnTo>
                <a:lnTo>
                  <a:pt x="0" y="0"/>
                </a:lnTo>
              </a:path>
            </a:pathLst>
          </a:custGeom>
          <a:ln w="19050">
            <a:solidFill>
              <a:srgbClr val="7864BA"/>
            </a:solidFill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11" name="Соединительная линия"/>
          <p:cNvSpPr/>
          <p:nvPr/>
        </p:nvSpPr>
        <p:spPr>
          <a:xfrm>
            <a:off x="4638040" y="2642870"/>
            <a:ext cx="1295401" cy="6807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0800" y="21600"/>
                </a:lnTo>
                <a:lnTo>
                  <a:pt x="10800" y="0"/>
                </a:lnTo>
                <a:lnTo>
                  <a:pt x="0" y="0"/>
                </a:lnTo>
              </a:path>
            </a:pathLst>
          </a:custGeom>
          <a:ln w="19050">
            <a:solidFill>
              <a:srgbClr val="7864BA"/>
            </a:solidFill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12" name="Соединительная линия"/>
          <p:cNvSpPr/>
          <p:nvPr/>
        </p:nvSpPr>
        <p:spPr>
          <a:xfrm>
            <a:off x="4638040" y="2642870"/>
            <a:ext cx="1295401" cy="12712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0800" y="21600"/>
                </a:lnTo>
                <a:lnTo>
                  <a:pt x="10800" y="0"/>
                </a:lnTo>
                <a:lnTo>
                  <a:pt x="0" y="0"/>
                </a:lnTo>
              </a:path>
            </a:pathLst>
          </a:custGeom>
          <a:ln w="19050">
            <a:solidFill>
              <a:srgbClr val="7864BA"/>
            </a:solidFill>
            <a:headEnd type="triangle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Что получилось"/>
          <p:cNvSpPr txBox="1"/>
          <p:nvPr/>
        </p:nvSpPr>
        <p:spPr>
          <a:xfrm>
            <a:off x="560069" y="304800"/>
            <a:ext cx="8004810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Что получилось</a:t>
            </a:r>
          </a:p>
        </p:txBody>
      </p:sp>
      <p:sp>
        <p:nvSpPr>
          <p:cNvPr id="117" name="7"/>
          <p:cNvSpPr txBox="1"/>
          <p:nvPr/>
        </p:nvSpPr>
        <p:spPr>
          <a:xfrm>
            <a:off x="8837293" y="4810126"/>
            <a:ext cx="99062" cy="19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sz="1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7</a:t>
            </a:r>
          </a:p>
        </p:txBody>
      </p:sp>
      <p:pic>
        <p:nvPicPr>
          <p:cNvPr id="118" name="image6.png" descr="image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1200150"/>
            <a:ext cx="4572000" cy="257175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Фрагмент интерфейса: ответ и страницы-источники"/>
          <p:cNvSpPr txBox="1"/>
          <p:nvPr/>
        </p:nvSpPr>
        <p:spPr>
          <a:xfrm>
            <a:off x="502919" y="3829051"/>
            <a:ext cx="4480562" cy="304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9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Фрагмент интерфейса: ответ и страницы-источники</a:t>
            </a:r>
          </a:p>
        </p:txBody>
      </p:sp>
      <p:sp>
        <p:nvSpPr>
          <p:cNvPr id="120" name="1."/>
          <p:cNvSpPr txBox="1"/>
          <p:nvPr/>
        </p:nvSpPr>
        <p:spPr>
          <a:xfrm>
            <a:off x="5265420" y="1304925"/>
            <a:ext cx="308612" cy="6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3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121" name="Веб-приложение принимает пакеты документов и вопросы"/>
          <p:cNvSpPr txBox="1"/>
          <p:nvPr/>
        </p:nvSpPr>
        <p:spPr>
          <a:xfrm>
            <a:off x="5646420" y="1304925"/>
            <a:ext cx="2861312" cy="6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Веб-приложение принимает пакеты документов и вопросы</a:t>
            </a:r>
          </a:p>
        </p:txBody>
      </p:sp>
      <p:sp>
        <p:nvSpPr>
          <p:cNvPr id="122" name="2."/>
          <p:cNvSpPr txBox="1"/>
          <p:nvPr/>
        </p:nvSpPr>
        <p:spPr>
          <a:xfrm>
            <a:off x="5265420" y="2019300"/>
            <a:ext cx="308612" cy="6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3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123" name="Ответ показывает файлы и страницы, откуда взяты факты"/>
          <p:cNvSpPr txBox="1"/>
          <p:nvPr/>
        </p:nvSpPr>
        <p:spPr>
          <a:xfrm>
            <a:off x="5646420" y="2019300"/>
            <a:ext cx="2861312" cy="6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Ответ показывает файлы и страницы, откуда взяты факты</a:t>
            </a:r>
          </a:p>
        </p:txBody>
      </p:sp>
      <p:sp>
        <p:nvSpPr>
          <p:cNvPr id="124" name="3."/>
          <p:cNvSpPr txBox="1"/>
          <p:nvPr/>
        </p:nvSpPr>
        <p:spPr>
          <a:xfrm>
            <a:off x="5265420" y="2733675"/>
            <a:ext cx="308612" cy="6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3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3.</a:t>
            </a:r>
          </a:p>
        </p:txBody>
      </p:sp>
      <p:sp>
        <p:nvSpPr>
          <p:cNvPr id="125" name="Доступ различается для бухгалтера и читателя"/>
          <p:cNvSpPr txBox="1"/>
          <p:nvPr/>
        </p:nvSpPr>
        <p:spPr>
          <a:xfrm>
            <a:off x="5646420" y="2733675"/>
            <a:ext cx="2861312" cy="6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Доступ различается для бухгалтера и читателя</a:t>
            </a:r>
          </a:p>
        </p:txBody>
      </p:sp>
      <p:sp>
        <p:nvSpPr>
          <p:cNvPr id="126" name="4."/>
          <p:cNvSpPr txBox="1"/>
          <p:nvPr/>
        </p:nvSpPr>
        <p:spPr>
          <a:xfrm>
            <a:off x="5265420" y="3448051"/>
            <a:ext cx="308612" cy="6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3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4.</a:t>
            </a:r>
          </a:p>
        </p:txBody>
      </p:sp>
      <p:sp>
        <p:nvSpPr>
          <p:cNvPr id="127" name="unit/API-тесты; отдельно проверены реальные Qdrant и Neo4j"/>
          <p:cNvSpPr txBox="1"/>
          <p:nvPr/>
        </p:nvSpPr>
        <p:spPr>
          <a:xfrm>
            <a:off x="5646420" y="3448051"/>
            <a:ext cx="2861312" cy="6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Проверены основные сценарии, права доступа и поиск по связанным документам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lide-title"/>
          <p:cNvSpPr txBox="1"/>
          <p:nvPr/>
        </p:nvSpPr>
        <p:spPr>
          <a:xfrm>
            <a:off x="445769" y="342900"/>
            <a:ext cx="8252461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300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Ограничения и эксплуатационные риски</a:t>
            </a:r>
          </a:p>
        </p:txBody>
      </p:sp>
      <p:sp>
        <p:nvSpPr>
          <p:cNvPr id="132" name="Сбой API прерывает фон"/>
          <p:cNvSpPr txBox="1"/>
          <p:nvPr/>
        </p:nvSpPr>
        <p:spPr>
          <a:xfrm>
            <a:off x="521969" y="1295400"/>
            <a:ext cx="3337561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500">
                <a:solidFill>
                  <a:srgbClr val="46319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Обработка внутри API</a:t>
            </a:r>
          </a:p>
        </p:txBody>
      </p:sp>
      <p:sp>
        <p:nvSpPr>
          <p:cNvPr id="133" name="Незавершённый документ получает failed; нужен по"/>
          <p:cNvSpPr txBox="1"/>
          <p:nvPr/>
        </p:nvSpPr>
        <p:spPr>
          <a:xfrm>
            <a:off x="4255770" y="1295400"/>
            <a:ext cx="4366260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500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При остановке приложения незавершённую обработку нужно запустить повторно</a:t>
            </a:r>
          </a:p>
        </p:txBody>
      </p:sp>
      <p:sp>
        <p:nvSpPr>
          <p:cNvPr id="134" name="Линия"/>
          <p:cNvSpPr/>
          <p:nvPr/>
        </p:nvSpPr>
        <p:spPr>
          <a:xfrm>
            <a:off x="476250" y="1981200"/>
            <a:ext cx="8191500" cy="0"/>
          </a:xfrm>
          <a:prstGeom prst="line">
            <a:avLst/>
          </a:prstGeom>
          <a:ln w="14288">
            <a:solidFill>
              <a:srgbClr val="9A8BC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5" name="Нет общей транзакции индексов"/>
          <p:cNvSpPr txBox="1"/>
          <p:nvPr/>
        </p:nvSpPr>
        <p:spPr>
          <a:xfrm>
            <a:off x="521969" y="2105025"/>
            <a:ext cx="3337561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500">
                <a:solidFill>
                  <a:srgbClr val="46319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Нет общей транзакции</a:t>
            </a:r>
          </a:p>
        </p:txBody>
      </p:sp>
      <p:sp>
        <p:nvSpPr>
          <p:cNvPr id="136" name="ready только после индексации; восстановление по"/>
          <p:cNvSpPr txBox="1"/>
          <p:nvPr/>
        </p:nvSpPr>
        <p:spPr>
          <a:xfrm>
            <a:off x="4265922" y="1866900"/>
            <a:ext cx="4635508" cy="1050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457200">
              <a:spcBef>
                <a:spcPts val="1200"/>
              </a:spcBef>
              <a:defRPr sz="1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Между базой и индексами нет общей транзакции, поэтому документ становится готовым только после индексации; частичный сбой требует повтора</a:t>
            </a:r>
          </a:p>
        </p:txBody>
      </p:sp>
      <p:sp>
        <p:nvSpPr>
          <p:cNvPr id="137" name="Линия"/>
          <p:cNvSpPr/>
          <p:nvPr/>
        </p:nvSpPr>
        <p:spPr>
          <a:xfrm>
            <a:off x="476250" y="2790825"/>
            <a:ext cx="8191500" cy="0"/>
          </a:xfrm>
          <a:prstGeom prst="line">
            <a:avLst/>
          </a:prstGeom>
          <a:ln w="14288">
            <a:solidFill>
              <a:srgbClr val="9A8BC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8" name="Модель и документы недоверенны"/>
          <p:cNvSpPr txBox="1"/>
          <p:nvPr/>
        </p:nvSpPr>
        <p:spPr>
          <a:xfrm>
            <a:off x="521969" y="2914650"/>
            <a:ext cx="3337561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500">
                <a:solidFill>
                  <a:srgbClr val="46319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Точность ответа</a:t>
            </a:r>
          </a:p>
        </p:txBody>
      </p:sp>
      <p:sp>
        <p:nvSpPr>
          <p:cNvPr id="139" name="Проверки цитат и прав снижают риск, но не доказы"/>
          <p:cNvSpPr txBox="1"/>
          <p:nvPr/>
        </p:nvSpPr>
        <p:spPr>
          <a:xfrm>
            <a:off x="4253222" y="2847787"/>
            <a:ext cx="4457708" cy="7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621791">
              <a:defRPr sz="1360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Проверка источников и прав не исключает фактических ошибок модели; нужна оценка на размеченных документах</a:t>
            </a:r>
          </a:p>
        </p:txBody>
      </p:sp>
      <p:sp>
        <p:nvSpPr>
          <p:cNvPr id="140" name="Линия"/>
          <p:cNvSpPr/>
          <p:nvPr/>
        </p:nvSpPr>
        <p:spPr>
          <a:xfrm>
            <a:off x="476250" y="3600450"/>
            <a:ext cx="8191500" cy="0"/>
          </a:xfrm>
          <a:prstGeom prst="line">
            <a:avLst/>
          </a:prstGeom>
          <a:ln w="14288">
            <a:solidFill>
              <a:srgbClr val="9A8BC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1" name="Внешний модельный API"/>
          <p:cNvSpPr txBox="1"/>
          <p:nvPr/>
        </p:nvSpPr>
        <p:spPr>
          <a:xfrm>
            <a:off x="521969" y="3724275"/>
            <a:ext cx="3337561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500">
                <a:solidFill>
                  <a:srgbClr val="46319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Качество извлечения реквизитов</a:t>
            </a:r>
          </a:p>
        </p:txBody>
      </p:sp>
      <p:sp>
        <p:nvSpPr>
          <p:cNvPr id="142" name="Зависимость от сети, бюджета и правил передачи д"/>
          <p:cNvSpPr txBox="1"/>
          <p:nvPr/>
        </p:nvSpPr>
        <p:spPr>
          <a:xfrm>
            <a:off x="4255770" y="3724275"/>
            <a:ext cx="4366260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832104">
              <a:defRPr sz="1365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Модель может ошибиться при чтении скана; нужны проверки на размеченном наборе документов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Выводы"/>
          <p:cNvSpPr txBox="1"/>
          <p:nvPr/>
        </p:nvSpPr>
        <p:spPr>
          <a:xfrm>
            <a:off x="560069" y="304800"/>
            <a:ext cx="8004810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Выводы</a:t>
            </a:r>
          </a:p>
        </p:txBody>
      </p:sp>
      <p:sp>
        <p:nvSpPr>
          <p:cNvPr id="147" name="8"/>
          <p:cNvSpPr txBox="1"/>
          <p:nvPr/>
        </p:nvSpPr>
        <p:spPr>
          <a:xfrm>
            <a:off x="8837293" y="4810126"/>
            <a:ext cx="99062" cy="19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sz="1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48" name="Текущее приложение"/>
          <p:cNvSpPr txBox="1"/>
          <p:nvPr/>
        </p:nvSpPr>
        <p:spPr>
          <a:xfrm>
            <a:off x="674369" y="1066800"/>
            <a:ext cx="27660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Текущее приложение</a:t>
            </a:r>
          </a:p>
        </p:txBody>
      </p:sp>
      <p:sp>
        <p:nvSpPr>
          <p:cNvPr id="149" name="MVP связывает сведения из нескольких документов, показывает источники и применяет права пользователя. Обработка пока работает в одном API-процессе; AI E2E проверен на небольшом синтетическом наборе."/>
          <p:cNvSpPr txBox="1"/>
          <p:nvPr/>
        </p:nvSpPr>
        <p:spPr>
          <a:xfrm>
            <a:off x="674369" y="1438275"/>
            <a:ext cx="7719060" cy="733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MVP связывает сведения из нескольких документов, показывает источники и применяет права пользователя. Обработка пока работает в одном API-процессе; AI E2E проверен на небольшом синтетическом наборе.</a:t>
            </a:r>
          </a:p>
        </p:txBody>
      </p:sp>
      <p:sp>
        <p:nvSpPr>
          <p:cNvPr id="150" name="Дальнейшее развитие: целевая архитектура"/>
          <p:cNvSpPr txBox="1"/>
          <p:nvPr/>
        </p:nvSpPr>
        <p:spPr>
          <a:xfrm>
            <a:off x="674369" y="2333625"/>
            <a:ext cx="7719060" cy="333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Дальнейшее развитие: целевая архитектура</a:t>
            </a:r>
          </a:p>
        </p:txBody>
      </p:sp>
      <p:sp>
        <p:nvSpPr>
          <p:cNvPr id="151" name="1."/>
          <p:cNvSpPr txBox="1"/>
          <p:nvPr/>
        </p:nvSpPr>
        <p:spPr>
          <a:xfrm>
            <a:off x="655319" y="2781300"/>
            <a:ext cx="3086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152" name="Вынести этапы обработки в отдельные микросервисы и связывать их через Kafka (событийная архитектура)"/>
          <p:cNvSpPr txBox="1"/>
          <p:nvPr/>
        </p:nvSpPr>
        <p:spPr>
          <a:xfrm>
            <a:off x="1093469" y="2781300"/>
            <a:ext cx="7433310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Вынести этапы обработки в отдельные микросервисы и связывать их через Kafka (событийная архитектура)</a:t>
            </a:r>
          </a:p>
        </p:txBody>
      </p:sp>
      <p:sp>
        <p:nvSpPr>
          <p:cNvPr id="153" name="2."/>
          <p:cNvSpPr txBox="1"/>
          <p:nvPr/>
        </p:nvSpPr>
        <p:spPr>
          <a:xfrm>
            <a:off x="655319" y="3314701"/>
            <a:ext cx="3086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154" name="Подключить Keycloak, платформу моделей LiteLLM/vLLM и общую наблюдаемость"/>
          <p:cNvSpPr txBox="1"/>
          <p:nvPr/>
        </p:nvSpPr>
        <p:spPr>
          <a:xfrm>
            <a:off x="1093469" y="3314701"/>
            <a:ext cx="7433310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Подключить Keycloak, платформу моделей LiteLLM/vLLM и общую наблюдаемость</a:t>
            </a:r>
          </a:p>
        </p:txBody>
      </p:sp>
      <p:sp>
        <p:nvSpPr>
          <p:cNvPr id="155" name="3."/>
          <p:cNvSpPr txBox="1"/>
          <p:nvPr/>
        </p:nvSpPr>
        <p:spPr>
          <a:xfrm>
            <a:off x="655319" y="3848101"/>
            <a:ext cx="3086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3.</a:t>
            </a:r>
          </a:p>
        </p:txBody>
      </p:sp>
      <p:sp>
        <p:nvSpPr>
          <p:cNvPr id="156" name="Добавить источники входящих документов: почта / DFS, реализовать интеграцию с 1С Документооборотом и 1С ERP"/>
          <p:cNvSpPr txBox="1"/>
          <p:nvPr/>
        </p:nvSpPr>
        <p:spPr>
          <a:xfrm>
            <a:off x="1093469" y="3848101"/>
            <a:ext cx="7433310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Добавить источники входящих документов: почта / DFS, реализовать интеграцию с 1С Документооборотом и 1С ERP</a:t>
            </a:r>
          </a:p>
        </p:txBody>
      </p:sp>
      <p:sp>
        <p:nvSpPr>
          <p:cNvPr id="157" name="Использование ML-моделей для предобработки док-ов"/>
          <p:cNvSpPr txBox="1"/>
          <p:nvPr/>
        </p:nvSpPr>
        <p:spPr>
          <a:xfrm>
            <a:off x="1117341" y="4533900"/>
            <a:ext cx="4024437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1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Использование ML-моделей для предобработки док-ов</a:t>
            </a:r>
          </a:p>
        </p:txBody>
      </p:sp>
      <p:sp>
        <p:nvSpPr>
          <p:cNvPr id="158" name="4."/>
          <p:cNvSpPr txBox="1"/>
          <p:nvPr/>
        </p:nvSpPr>
        <p:spPr>
          <a:xfrm>
            <a:off x="655319" y="4406901"/>
            <a:ext cx="3086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432EA6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4.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Целевая архитектура"/>
          <p:cNvSpPr txBox="1"/>
          <p:nvPr/>
        </p:nvSpPr>
        <p:spPr>
          <a:xfrm>
            <a:off x="445769" y="219075"/>
            <a:ext cx="8252461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200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Целевая архитектура</a:t>
            </a:r>
          </a:p>
        </p:txBody>
      </p:sp>
      <p:sp>
        <p:nvSpPr>
          <p:cNvPr id="163" name="Обзор целевой архитектуры; сервисы обработки объединены в группу Workers"/>
          <p:cNvSpPr txBox="1"/>
          <p:nvPr/>
        </p:nvSpPr>
        <p:spPr>
          <a:xfrm>
            <a:off x="664844" y="3670300"/>
            <a:ext cx="7814311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1200">
                <a:solidFill>
                  <a:srgbClr val="46319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сервисы обработки объединены в группу Workers</a:t>
            </a:r>
          </a:p>
        </p:txBody>
      </p:sp>
      <p:sp>
        <p:nvSpPr>
          <p:cNvPr id="164" name="ВОПРОС И ОТВЕТ"/>
          <p:cNvSpPr txBox="1"/>
          <p:nvPr/>
        </p:nvSpPr>
        <p:spPr>
          <a:xfrm>
            <a:off x="407669" y="1104900"/>
            <a:ext cx="4004311" cy="23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900">
                <a:solidFill>
                  <a:srgbClr val="46319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ВОПРОС И ОТВЕТ</a:t>
            </a:r>
          </a:p>
        </p:txBody>
      </p:sp>
      <p:grpSp>
        <p:nvGrpSpPr>
          <p:cNvPr id="167" name="Веб-интерфейс"/>
          <p:cNvGrpSpPr/>
          <p:nvPr/>
        </p:nvGrpSpPr>
        <p:grpSpPr>
          <a:xfrm>
            <a:off x="133350" y="1419225"/>
            <a:ext cx="2000250" cy="685800"/>
            <a:chOff x="0" y="0"/>
            <a:chExt cx="2000250" cy="685800"/>
          </a:xfrm>
        </p:grpSpPr>
        <p:sp>
          <p:nvSpPr>
            <p:cNvPr id="165" name="Закругленный прямоугольник"/>
            <p:cNvSpPr/>
            <p:nvPr/>
          </p:nvSpPr>
          <p:spPr>
            <a:xfrm>
              <a:off x="0" y="0"/>
              <a:ext cx="2000250" cy="685800"/>
            </a:xfrm>
            <a:prstGeom prst="roundRect">
              <a:avLst>
                <a:gd name="adj" fmla="val 15278"/>
              </a:avLst>
            </a:prstGeom>
            <a:solidFill>
              <a:srgbClr val="F7F5FC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66" name="Веб-интерфейс"/>
            <p:cNvSpPr txBox="1"/>
            <p:nvPr/>
          </p:nvSpPr>
          <p:spPr>
            <a:xfrm>
              <a:off x="84504" y="38784"/>
              <a:ext cx="1831242" cy="608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Веб-интерфейс</a:t>
              </a:r>
            </a:p>
          </p:txBody>
        </p:sp>
      </p:grpSp>
      <p:sp>
        <p:nvSpPr>
          <p:cNvPr id="168" name="Стрелка"/>
          <p:cNvSpPr/>
          <p:nvPr/>
        </p:nvSpPr>
        <p:spPr>
          <a:xfrm>
            <a:off x="2162175" y="1676400"/>
            <a:ext cx="2476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319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71" name="Backend API вход и права"/>
          <p:cNvGrpSpPr/>
          <p:nvPr/>
        </p:nvGrpSpPr>
        <p:grpSpPr>
          <a:xfrm>
            <a:off x="2432050" y="1419225"/>
            <a:ext cx="2000250" cy="685800"/>
            <a:chOff x="0" y="0"/>
            <a:chExt cx="2000250" cy="685800"/>
          </a:xfrm>
        </p:grpSpPr>
        <p:sp>
          <p:nvSpPr>
            <p:cNvPr id="169" name="Закругленный прямоугольник"/>
            <p:cNvSpPr/>
            <p:nvPr/>
          </p:nvSpPr>
          <p:spPr>
            <a:xfrm>
              <a:off x="0" y="0"/>
              <a:ext cx="2000250" cy="685800"/>
            </a:xfrm>
            <a:prstGeom prst="roundRect">
              <a:avLst>
                <a:gd name="adj" fmla="val 15278"/>
              </a:avLst>
            </a:prstGeom>
            <a:solidFill>
              <a:srgbClr val="F7F5FC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70" name="Backend API…"/>
            <p:cNvSpPr txBox="1"/>
            <p:nvPr/>
          </p:nvSpPr>
          <p:spPr>
            <a:xfrm>
              <a:off x="84504" y="38784"/>
              <a:ext cx="1831242" cy="608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Backend API</a:t>
              </a:r>
            </a:p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вход и права</a:t>
              </a:r>
            </a:p>
          </p:txBody>
        </p:sp>
      </p:grpSp>
      <p:sp>
        <p:nvSpPr>
          <p:cNvPr id="172" name="Стрелка"/>
          <p:cNvSpPr/>
          <p:nvPr/>
        </p:nvSpPr>
        <p:spPr>
          <a:xfrm>
            <a:off x="4473575" y="1676400"/>
            <a:ext cx="2476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319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75" name="GraphRAG поиск и связи"/>
          <p:cNvGrpSpPr/>
          <p:nvPr/>
        </p:nvGrpSpPr>
        <p:grpSpPr>
          <a:xfrm>
            <a:off x="4730750" y="1419225"/>
            <a:ext cx="2000250" cy="685800"/>
            <a:chOff x="0" y="0"/>
            <a:chExt cx="2000250" cy="685800"/>
          </a:xfrm>
        </p:grpSpPr>
        <p:sp>
          <p:nvSpPr>
            <p:cNvPr id="173" name="Закругленный прямоугольник"/>
            <p:cNvSpPr/>
            <p:nvPr/>
          </p:nvSpPr>
          <p:spPr>
            <a:xfrm>
              <a:off x="0" y="0"/>
              <a:ext cx="2000250" cy="685800"/>
            </a:xfrm>
            <a:prstGeom prst="roundRect">
              <a:avLst>
                <a:gd name="adj" fmla="val 15278"/>
              </a:avLst>
            </a:prstGeom>
            <a:solidFill>
              <a:srgbClr val="F7F5FC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74" name="GraphRAG…"/>
            <p:cNvSpPr txBox="1"/>
            <p:nvPr/>
          </p:nvSpPr>
          <p:spPr>
            <a:xfrm>
              <a:off x="84504" y="38784"/>
              <a:ext cx="1831242" cy="608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GraphRAG</a:t>
              </a:r>
            </a:p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поиск и связи</a:t>
              </a:r>
            </a:p>
          </p:txBody>
        </p:sp>
      </p:grpSp>
      <p:sp>
        <p:nvSpPr>
          <p:cNvPr id="176" name="Стрелка"/>
          <p:cNvSpPr/>
          <p:nvPr/>
        </p:nvSpPr>
        <p:spPr>
          <a:xfrm>
            <a:off x="6746875" y="1676400"/>
            <a:ext cx="2476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319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79" name="Qdrant + Neo4j поиск и граф"/>
          <p:cNvGrpSpPr/>
          <p:nvPr/>
        </p:nvGrpSpPr>
        <p:grpSpPr>
          <a:xfrm>
            <a:off x="7016750" y="1419225"/>
            <a:ext cx="2000250" cy="685800"/>
            <a:chOff x="0" y="0"/>
            <a:chExt cx="2000250" cy="685800"/>
          </a:xfrm>
        </p:grpSpPr>
        <p:sp>
          <p:nvSpPr>
            <p:cNvPr id="177" name="Закругленный прямоугольник"/>
            <p:cNvSpPr/>
            <p:nvPr/>
          </p:nvSpPr>
          <p:spPr>
            <a:xfrm>
              <a:off x="0" y="0"/>
              <a:ext cx="2000250" cy="685800"/>
            </a:xfrm>
            <a:prstGeom prst="roundRect">
              <a:avLst>
                <a:gd name="adj" fmla="val 15278"/>
              </a:avLst>
            </a:prstGeom>
            <a:solidFill>
              <a:srgbClr val="F7F5FC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78" name="Qdrant + Neo4j…"/>
            <p:cNvSpPr txBox="1"/>
            <p:nvPr/>
          </p:nvSpPr>
          <p:spPr>
            <a:xfrm>
              <a:off x="84504" y="38784"/>
              <a:ext cx="1831242" cy="608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Qdrant + Neo4j</a:t>
              </a:r>
            </a:p>
            <a:p>
              <a:pPr algn="ctr">
                <a:defRPr sz="13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поиск и граф</a:t>
              </a:r>
            </a:p>
          </p:txBody>
        </p:sp>
      </p:grpSp>
      <p:sp>
        <p:nvSpPr>
          <p:cNvPr id="180" name="ОБРАБОТКА ДОКУМЕНТОВ"/>
          <p:cNvSpPr txBox="1"/>
          <p:nvPr/>
        </p:nvSpPr>
        <p:spPr>
          <a:xfrm>
            <a:off x="407669" y="2343150"/>
            <a:ext cx="5052061" cy="23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900">
                <a:solidFill>
                  <a:srgbClr val="46319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ОБРАБОТКА ДОКУМЕНТОВ</a:t>
            </a:r>
          </a:p>
        </p:txBody>
      </p:sp>
      <p:grpSp>
        <p:nvGrpSpPr>
          <p:cNvPr id="183" name="API / почта / DFS"/>
          <p:cNvGrpSpPr/>
          <p:nvPr/>
        </p:nvGrpSpPr>
        <p:grpSpPr>
          <a:xfrm>
            <a:off x="117475" y="2670175"/>
            <a:ext cx="1257300" cy="742950"/>
            <a:chOff x="0" y="0"/>
            <a:chExt cx="1257300" cy="742950"/>
          </a:xfrm>
        </p:grpSpPr>
        <p:sp>
          <p:nvSpPr>
            <p:cNvPr id="181" name="Закругленный прямоугольник"/>
            <p:cNvSpPr/>
            <p:nvPr/>
          </p:nvSpPr>
          <p:spPr>
            <a:xfrm>
              <a:off x="0" y="0"/>
              <a:ext cx="1257300" cy="742950"/>
            </a:xfrm>
            <a:prstGeom prst="roundRect">
              <a:avLst>
                <a:gd name="adj" fmla="val 14103"/>
              </a:avLst>
            </a:prstGeom>
            <a:solidFill>
              <a:srgbClr val="FFFFFF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82" name="API / почта / DFS"/>
            <p:cNvSpPr txBox="1"/>
            <p:nvPr/>
          </p:nvSpPr>
          <p:spPr>
            <a:xfrm>
              <a:off x="84504" y="38784"/>
              <a:ext cx="1088292" cy="665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API / почта / DFS</a:t>
              </a:r>
            </a:p>
          </p:txBody>
        </p:sp>
      </p:grpSp>
      <p:sp>
        <p:nvSpPr>
          <p:cNvPr id="184" name="Стрелка"/>
          <p:cNvSpPr/>
          <p:nvPr/>
        </p:nvSpPr>
        <p:spPr>
          <a:xfrm>
            <a:off x="1406525" y="2943225"/>
            <a:ext cx="2476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319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87" name="Retrieve приём документов"/>
          <p:cNvGrpSpPr/>
          <p:nvPr/>
        </p:nvGrpSpPr>
        <p:grpSpPr>
          <a:xfrm>
            <a:off x="1657350" y="2652712"/>
            <a:ext cx="1257300" cy="742951"/>
            <a:chOff x="0" y="0"/>
            <a:chExt cx="1257300" cy="742950"/>
          </a:xfrm>
        </p:grpSpPr>
        <p:sp>
          <p:nvSpPr>
            <p:cNvPr id="185" name="Закругленный прямоугольник"/>
            <p:cNvSpPr/>
            <p:nvPr/>
          </p:nvSpPr>
          <p:spPr>
            <a:xfrm>
              <a:off x="0" y="0"/>
              <a:ext cx="1257300" cy="742950"/>
            </a:xfrm>
            <a:prstGeom prst="roundRect">
              <a:avLst>
                <a:gd name="adj" fmla="val 14103"/>
              </a:avLst>
            </a:prstGeom>
            <a:solidFill>
              <a:srgbClr val="FFFFFF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86" name="Retrieve…"/>
            <p:cNvSpPr txBox="1"/>
            <p:nvPr/>
          </p:nvSpPr>
          <p:spPr>
            <a:xfrm>
              <a:off x="84504" y="38784"/>
              <a:ext cx="1088292" cy="665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Retrieve</a:t>
              </a:r>
            </a:p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приём документов</a:t>
              </a:r>
            </a:p>
          </p:txBody>
        </p:sp>
      </p:grpSp>
      <p:sp>
        <p:nvSpPr>
          <p:cNvPr id="188" name="Стрелка"/>
          <p:cNvSpPr/>
          <p:nvPr/>
        </p:nvSpPr>
        <p:spPr>
          <a:xfrm>
            <a:off x="2940050" y="2943225"/>
            <a:ext cx="2476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319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1" name="Kafka задания"/>
          <p:cNvGrpSpPr/>
          <p:nvPr/>
        </p:nvGrpSpPr>
        <p:grpSpPr>
          <a:xfrm>
            <a:off x="3190875" y="2652712"/>
            <a:ext cx="1257300" cy="742951"/>
            <a:chOff x="0" y="0"/>
            <a:chExt cx="1257300" cy="742950"/>
          </a:xfrm>
        </p:grpSpPr>
        <p:sp>
          <p:nvSpPr>
            <p:cNvPr id="189" name="Закругленный прямоугольник"/>
            <p:cNvSpPr/>
            <p:nvPr/>
          </p:nvSpPr>
          <p:spPr>
            <a:xfrm>
              <a:off x="0" y="0"/>
              <a:ext cx="1257300" cy="742950"/>
            </a:xfrm>
            <a:prstGeom prst="roundRect">
              <a:avLst>
                <a:gd name="adj" fmla="val 14103"/>
              </a:avLst>
            </a:prstGeom>
            <a:solidFill>
              <a:srgbClr val="FFFFFF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90" name="Kafka…"/>
            <p:cNvSpPr txBox="1"/>
            <p:nvPr/>
          </p:nvSpPr>
          <p:spPr>
            <a:xfrm>
              <a:off x="84504" y="38784"/>
              <a:ext cx="1088292" cy="665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Kafka</a:t>
              </a:r>
            </a:p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задания</a:t>
              </a:r>
            </a:p>
          </p:txBody>
        </p:sp>
      </p:grpSp>
      <p:sp>
        <p:nvSpPr>
          <p:cNvPr id="192" name="Стрелка"/>
          <p:cNvSpPr/>
          <p:nvPr/>
        </p:nvSpPr>
        <p:spPr>
          <a:xfrm>
            <a:off x="4460875" y="2943225"/>
            <a:ext cx="2476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319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5" name="AccMind оркестратор"/>
          <p:cNvGrpSpPr/>
          <p:nvPr/>
        </p:nvGrpSpPr>
        <p:grpSpPr>
          <a:xfrm>
            <a:off x="4721225" y="2652712"/>
            <a:ext cx="1257300" cy="742951"/>
            <a:chOff x="0" y="0"/>
            <a:chExt cx="1257300" cy="742950"/>
          </a:xfrm>
        </p:grpSpPr>
        <p:sp>
          <p:nvSpPr>
            <p:cNvPr id="193" name="Закругленный прямоугольник"/>
            <p:cNvSpPr/>
            <p:nvPr/>
          </p:nvSpPr>
          <p:spPr>
            <a:xfrm>
              <a:off x="0" y="0"/>
              <a:ext cx="1257300" cy="742950"/>
            </a:xfrm>
            <a:prstGeom prst="roundRect">
              <a:avLst>
                <a:gd name="adj" fmla="val 14103"/>
              </a:avLst>
            </a:prstGeom>
            <a:solidFill>
              <a:srgbClr val="FFFFFF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94" name="AccMind…"/>
            <p:cNvSpPr txBox="1"/>
            <p:nvPr/>
          </p:nvSpPr>
          <p:spPr>
            <a:xfrm>
              <a:off x="84504" y="38784"/>
              <a:ext cx="1088292" cy="665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AccMind</a:t>
              </a:r>
            </a:p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оркестратор</a:t>
              </a:r>
            </a:p>
          </p:txBody>
        </p:sp>
      </p:grpSp>
      <p:sp>
        <p:nvSpPr>
          <p:cNvPr id="196" name="Стрелка"/>
          <p:cNvSpPr/>
          <p:nvPr/>
        </p:nvSpPr>
        <p:spPr>
          <a:xfrm>
            <a:off x="5981700" y="2943225"/>
            <a:ext cx="2476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319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9" name="Workers Prep · OCR · LLM"/>
          <p:cNvGrpSpPr/>
          <p:nvPr/>
        </p:nvGrpSpPr>
        <p:grpSpPr>
          <a:xfrm>
            <a:off x="6229350" y="2652712"/>
            <a:ext cx="1257300" cy="742951"/>
            <a:chOff x="0" y="0"/>
            <a:chExt cx="1257300" cy="742950"/>
          </a:xfrm>
        </p:grpSpPr>
        <p:sp>
          <p:nvSpPr>
            <p:cNvPr id="197" name="Закругленный прямоугольник"/>
            <p:cNvSpPr/>
            <p:nvPr/>
          </p:nvSpPr>
          <p:spPr>
            <a:xfrm>
              <a:off x="0" y="0"/>
              <a:ext cx="1257300" cy="742950"/>
            </a:xfrm>
            <a:prstGeom prst="roundRect">
              <a:avLst>
                <a:gd name="adj" fmla="val 14103"/>
              </a:avLst>
            </a:prstGeom>
            <a:solidFill>
              <a:srgbClr val="FFFFFF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98" name="Workers…"/>
            <p:cNvSpPr txBox="1"/>
            <p:nvPr/>
          </p:nvSpPr>
          <p:spPr>
            <a:xfrm>
              <a:off x="84504" y="38784"/>
              <a:ext cx="1088292" cy="665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Workers</a:t>
              </a:r>
            </a:p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Prep · OCR · LLM</a:t>
              </a:r>
            </a:p>
          </p:txBody>
        </p:sp>
      </p:grpSp>
      <p:sp>
        <p:nvSpPr>
          <p:cNvPr id="200" name="Стрелка"/>
          <p:cNvSpPr/>
          <p:nvPr/>
        </p:nvSpPr>
        <p:spPr>
          <a:xfrm>
            <a:off x="7502525" y="2943225"/>
            <a:ext cx="2476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319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03" name="Передача в 1С ДО / ERP"/>
          <p:cNvGrpSpPr/>
          <p:nvPr/>
        </p:nvGrpSpPr>
        <p:grpSpPr>
          <a:xfrm>
            <a:off x="7759700" y="2652712"/>
            <a:ext cx="1257300" cy="742951"/>
            <a:chOff x="0" y="0"/>
            <a:chExt cx="1257300" cy="742950"/>
          </a:xfrm>
        </p:grpSpPr>
        <p:sp>
          <p:nvSpPr>
            <p:cNvPr id="201" name="Закругленный прямоугольник"/>
            <p:cNvSpPr/>
            <p:nvPr/>
          </p:nvSpPr>
          <p:spPr>
            <a:xfrm>
              <a:off x="0" y="0"/>
              <a:ext cx="1257300" cy="742950"/>
            </a:xfrm>
            <a:prstGeom prst="roundRect">
              <a:avLst>
                <a:gd name="adj" fmla="val 14103"/>
              </a:avLst>
            </a:prstGeom>
            <a:solidFill>
              <a:srgbClr val="FFFFFF"/>
            </a:solidFill>
            <a:ln w="16192" cap="flat">
              <a:solidFill>
                <a:srgbClr val="AAA0C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02" name="Передача в…"/>
            <p:cNvSpPr txBox="1"/>
            <p:nvPr/>
          </p:nvSpPr>
          <p:spPr>
            <a:xfrm>
              <a:off x="84504" y="38784"/>
              <a:ext cx="1088292" cy="665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/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Передача в</a:t>
              </a:r>
            </a:p>
            <a:p>
              <a:pPr algn="ctr">
                <a:defRPr sz="12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1С ДО / ERP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512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391" t="0" r="391" b="0"/>
          <a:stretch>
            <a:fillRect/>
          </a:stretch>
        </p:blipFill>
        <p:spPr>
          <a:xfrm>
            <a:off x="-2" y="0"/>
            <a:ext cx="9144002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Вопросы и рекомендации"/>
          <p:cNvSpPr txBox="1"/>
          <p:nvPr/>
        </p:nvSpPr>
        <p:spPr>
          <a:xfrm>
            <a:off x="445769" y="1762125"/>
            <a:ext cx="7719060" cy="819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Вопросы и рекомендации</a:t>
            </a:r>
          </a:p>
        </p:txBody>
      </p:sp>
      <p:sp>
        <p:nvSpPr>
          <p:cNvPr id="209" name="+"/>
          <p:cNvSpPr txBox="1"/>
          <p:nvPr/>
        </p:nvSpPr>
        <p:spPr>
          <a:xfrm>
            <a:off x="769619" y="2857500"/>
            <a:ext cx="384812" cy="71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10" name="Вопросы по текущему приложению"/>
          <p:cNvSpPr txBox="1"/>
          <p:nvPr/>
        </p:nvSpPr>
        <p:spPr>
          <a:xfrm>
            <a:off x="1255394" y="3000375"/>
            <a:ext cx="276606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Вопросы по текущему приложению</a:t>
            </a:r>
          </a:p>
        </p:txBody>
      </p:sp>
      <p:sp>
        <p:nvSpPr>
          <p:cNvPr id="211" name="–"/>
          <p:cNvSpPr txBox="1"/>
          <p:nvPr/>
        </p:nvSpPr>
        <p:spPr>
          <a:xfrm>
            <a:off x="4484370" y="2857500"/>
            <a:ext cx="384812" cy="71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3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–</a:t>
            </a:r>
          </a:p>
        </p:txBody>
      </p:sp>
      <p:sp>
        <p:nvSpPr>
          <p:cNvPr id="212" name="Рекомендации по развитию"/>
          <p:cNvSpPr txBox="1"/>
          <p:nvPr/>
        </p:nvSpPr>
        <p:spPr>
          <a:xfrm>
            <a:off x="4979670" y="3000375"/>
            <a:ext cx="295656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Рекомендации по развитию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512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391" t="0" r="391" b="0"/>
          <a:stretch>
            <a:fillRect/>
          </a:stretch>
        </p:blipFill>
        <p:spPr>
          <a:xfrm>
            <a:off x="-2" y="0"/>
            <a:ext cx="9144002" cy="514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image9.png" descr="image9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24650" y="229350"/>
            <a:ext cx="2266950" cy="3036976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Спасибо за внимание!"/>
          <p:cNvSpPr txBox="1"/>
          <p:nvPr/>
        </p:nvSpPr>
        <p:spPr>
          <a:xfrm>
            <a:off x="674369" y="1866900"/>
            <a:ext cx="7052310" cy="990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Спасибо за внимание!</a:t>
            </a:r>
          </a:p>
        </p:txBody>
      </p:sp>
      <p:sp>
        <p:nvSpPr>
          <p:cNvPr id="219" name="Готов обсудить проект"/>
          <p:cNvSpPr txBox="1"/>
          <p:nvPr/>
        </p:nvSpPr>
        <p:spPr>
          <a:xfrm>
            <a:off x="712469" y="2895600"/>
            <a:ext cx="543306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Готов обсудить проект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